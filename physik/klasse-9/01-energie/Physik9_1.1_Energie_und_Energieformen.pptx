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564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hyperlink" Target="https://kurzelinks.de/q2uh"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hyperlink" Target="https://kurzelinks.de/752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11091672" cy="292608"/>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Physik 9  ·  A – Energie als Erhaltungsgröße</a:t>
            </a:r>
            <a:endParaRPr lang="en-US" sz="1100" dirty="0"/>
          </a:p>
        </p:txBody>
      </p:sp>
      <p:sp>
        <p:nvSpPr>
          <p:cNvPr id="3" name="Text 1"/>
          <p:cNvSpPr txBox="1"/>
          <p:nvPr/>
        </p:nvSpPr>
        <p:spPr>
          <a:xfrm>
            <a:off x="548640" y="530352"/>
            <a:ext cx="11091672" cy="502920"/>
          </a:xfrm>
          <a:prstGeom prst="rect">
            <a:avLst/>
          </a:prstGeom>
          <a:noFill/>
          <a:ln/>
        </p:spPr>
        <p:txBody>
          <a:bodyPr wrap="square" lIns="0" tIns="0" rIns="0" bIns="0" rtlCol="0" anchor="ctr"/>
          <a:lstStyle/>
          <a:p>
            <a:pPr marL="0" indent="0">
              <a:buNone/>
            </a:pPr>
            <a:r>
              <a:rPr lang="en-US" sz="2600" b="1" dirty="0">
                <a:solidFill>
                  <a:srgbClr val="1B4F91"/>
                </a:solidFill>
                <a:latin typeface="Calibri" pitchFamily="34" charset="0"/>
                <a:ea typeface="Calibri" pitchFamily="34" charset="-122"/>
                <a:cs typeface="Calibri" pitchFamily="34" charset="-120"/>
              </a:rPr>
              <a:t>1.1 Energie und Energieformen</a:t>
            </a:r>
            <a:endParaRPr lang="en-US" sz="2600" dirty="0"/>
          </a:p>
        </p:txBody>
      </p:sp>
      <p:sp>
        <p:nvSpPr>
          <p:cNvPr id="4" name="Text 2"/>
          <p:cNvSpPr txBox="1"/>
          <p:nvPr/>
        </p:nvSpPr>
        <p:spPr>
          <a:xfrm>
            <a:off x="548640" y="1280160"/>
            <a:ext cx="6309360" cy="329184"/>
          </a:xfrm>
          <a:prstGeom prst="rect">
            <a:avLst/>
          </a:prstGeom>
          <a:noFill/>
          <a:ln/>
        </p:spPr>
        <p:txBody>
          <a:bodyPr wrap="square" lIns="0" tIns="0" rIns="0" bIns="0" rtlCol="0" anchor="ctr"/>
          <a:lstStyle/>
          <a:p>
            <a:pPr marL="0" indent="0">
              <a:buNone/>
            </a:pPr>
            <a:r>
              <a:rPr lang="en-US" sz="1500" b="1" dirty="0">
                <a:solidFill>
                  <a:srgbClr val="1B4F91"/>
                </a:solidFill>
                <a:latin typeface="Calibri" pitchFamily="34" charset="0"/>
                <a:ea typeface="Calibri" pitchFamily="34" charset="-122"/>
                <a:cs typeface="Calibri" pitchFamily="34" charset="-120"/>
              </a:rPr>
              <a:t>Was ist Energie?</a:t>
            </a:r>
            <a:endParaRPr lang="en-US" sz="1500" dirty="0"/>
          </a:p>
        </p:txBody>
      </p:sp>
      <p:sp>
        <p:nvSpPr>
          <p:cNvPr id="5" name="Text 3"/>
          <p:cNvSpPr txBox="1"/>
          <p:nvPr/>
        </p:nvSpPr>
        <p:spPr>
          <a:xfrm>
            <a:off x="548640" y="1691640"/>
            <a:ext cx="6309360" cy="2103120"/>
          </a:xfrm>
          <a:prstGeom prst="rect">
            <a:avLst/>
          </a:prstGeom>
          <a:noFill/>
          <a:ln/>
        </p:spPr>
        <p:txBody>
          <a:bodyPr wrap="square" lIns="0" tIns="0" rIns="0" bIns="0" rtlCol="0" anchor="t"/>
          <a:lstStyle/>
          <a:p>
            <a:pPr marL="177800" indent="-177800">
              <a:lnSpc>
                <a:spcPts val="1900"/>
              </a:lnSpc>
              <a:spcAft>
                <a:spcPts val="1600"/>
              </a:spcAft>
              <a:buSzPct val="100000"/>
              <a:buChar char="–"/>
            </a:pPr>
            <a:r>
              <a:rPr lang="en-US" sz="1400" dirty="0">
                <a:solidFill>
                  <a:srgbClr val="1A1A1A"/>
                </a:solidFill>
                <a:latin typeface="Calibri" pitchFamily="34" charset="0"/>
                <a:ea typeface="Calibri" pitchFamily="34" charset="-122"/>
                <a:cs typeface="Calibri" pitchFamily="34" charset="-120"/>
              </a:rPr>
              <a:t>Mit Energie kann man z. B. Gegenstände bewegen, verformen, erwärmen oder zum Leuchten bringen.</a:t>
            </a:r>
            <a:endParaRPr lang="en-US" sz="1400" dirty="0"/>
          </a:p>
          <a:p>
            <a:pPr marL="177800" indent="-177800">
              <a:lnSpc>
                <a:spcPts val="1900"/>
              </a:lnSpc>
              <a:spcAft>
                <a:spcPts val="1600"/>
              </a:spcAft>
              <a:buSzPct val="100000"/>
              <a:buChar char="–"/>
            </a:pPr>
            <a:r>
              <a:rPr lang="en-US" sz="1400" dirty="0">
                <a:solidFill>
                  <a:srgbClr val="1A1A1A"/>
                </a:solidFill>
                <a:latin typeface="Calibri" pitchFamily="34" charset="0"/>
                <a:ea typeface="Calibri" pitchFamily="34" charset="-122"/>
                <a:cs typeface="Calibri" pitchFamily="34" charset="-120"/>
              </a:rPr>
              <a:t>Energieunterschiede sind nötig, damit überhaupt Vorgänge ablaufen können.</a:t>
            </a:r>
            <a:endParaRPr lang="en-US" sz="1400" dirty="0"/>
          </a:p>
          <a:p>
            <a:pPr marL="177800" indent="-177800">
              <a:lnSpc>
                <a:spcPts val="1900"/>
              </a:lnSpc>
              <a:spcAft>
                <a:spcPts val="1600"/>
              </a:spcAft>
              <a:buSzPct val="100000"/>
              <a:buChar char="–"/>
            </a:pPr>
            <a:r>
              <a:rPr lang="en-US" sz="1400" dirty="0">
                <a:solidFill>
                  <a:srgbClr val="1A1A1A"/>
                </a:solidFill>
                <a:latin typeface="Calibri" pitchFamily="34" charset="0"/>
                <a:ea typeface="Calibri" pitchFamily="34" charset="-122"/>
                <a:cs typeface="Calibri" pitchFamily="34" charset="-120"/>
              </a:rPr>
              <a:t>Energie kann gespeichert werden.</a:t>
            </a:r>
            <a:endParaRPr lang="en-US" sz="1400" dirty="0"/>
          </a:p>
          <a:p>
            <a:pPr marL="177800" indent="-177800">
              <a:lnSpc>
                <a:spcPts val="1900"/>
              </a:lnSpc>
              <a:spcAft>
                <a:spcPts val="1600"/>
              </a:spcAft>
              <a:buSzPct val="100000"/>
              <a:buChar char="–"/>
            </a:pPr>
            <a:r>
              <a:rPr lang="en-US" sz="1400" dirty="0">
                <a:solidFill>
                  <a:srgbClr val="1A1A1A"/>
                </a:solidFill>
                <a:latin typeface="Calibri" pitchFamily="34" charset="0"/>
                <a:ea typeface="Calibri" pitchFamily="34" charset="-122"/>
                <a:cs typeface="Calibri" pitchFamily="34" charset="-120"/>
              </a:rPr>
              <a:t>Die „niedrigste“ Energieform ist Wärme.</a:t>
            </a:r>
            <a:endParaRPr lang="en-US" sz="1400" dirty="0"/>
          </a:p>
        </p:txBody>
      </p:sp>
      <p:sp>
        <p:nvSpPr>
          <p:cNvPr id="6" name="Shape 4"/>
          <p:cNvSpPr/>
          <p:nvPr/>
        </p:nvSpPr>
        <p:spPr>
          <a:xfrm>
            <a:off x="548640" y="3977640"/>
            <a:ext cx="6309360" cy="1371600"/>
          </a:xfrm>
          <a:prstGeom prst="rect">
            <a:avLst/>
          </a:prstGeom>
          <a:solidFill>
            <a:srgbClr val="FFFFFF"/>
          </a:solidFill>
          <a:ln w="15875">
            <a:solidFill>
              <a:srgbClr val="C1272D"/>
            </a:solidFill>
            <a:prstDash val="solid"/>
          </a:ln>
        </p:spPr>
        <p:txBody>
          <a:bodyPr/>
          <a:lstStyle/>
          <a:p>
            <a:endParaRPr lang="de-DE"/>
          </a:p>
        </p:txBody>
      </p:sp>
      <p:sp>
        <p:nvSpPr>
          <p:cNvPr id="7" name="Text 5"/>
          <p:cNvSpPr txBox="1"/>
          <p:nvPr/>
        </p:nvSpPr>
        <p:spPr>
          <a:xfrm>
            <a:off x="713232" y="4069080"/>
            <a:ext cx="5980176" cy="274320"/>
          </a:xfrm>
          <a:prstGeom prst="rect">
            <a:avLst/>
          </a:prstGeom>
          <a:noFill/>
          <a:ln/>
        </p:spPr>
        <p:txBody>
          <a:bodyPr wrap="square" lIns="0" tIns="0" rIns="0" bIns="0" rtlCol="0" anchor="ctr"/>
          <a:lstStyle/>
          <a:p>
            <a:pPr marL="0" indent="0">
              <a:buNone/>
            </a:pPr>
            <a:r>
              <a:rPr lang="en-US" sz="1250" b="1" dirty="0">
                <a:solidFill>
                  <a:srgbClr val="C1272D"/>
                </a:solidFill>
                <a:latin typeface="Calibri" pitchFamily="34" charset="0"/>
                <a:ea typeface="Calibri" pitchFamily="34" charset="-122"/>
                <a:cs typeface="Calibri" pitchFamily="34" charset="-120"/>
              </a:rPr>
              <a:t>Merksatz</a:t>
            </a:r>
            <a:endParaRPr lang="en-US" sz="1250" dirty="0"/>
          </a:p>
        </p:txBody>
      </p:sp>
      <p:sp>
        <p:nvSpPr>
          <p:cNvPr id="8" name="Text 6"/>
          <p:cNvSpPr txBox="1"/>
          <p:nvPr/>
        </p:nvSpPr>
        <p:spPr>
          <a:xfrm>
            <a:off x="713232" y="4416552"/>
            <a:ext cx="5980176" cy="822960"/>
          </a:xfrm>
          <a:prstGeom prst="rect">
            <a:avLst/>
          </a:prstGeom>
          <a:noFill/>
          <a:ln/>
        </p:spPr>
        <p:txBody>
          <a:bodyPr wrap="square" lIns="0" tIns="0" rIns="0" bIns="0" rtlCol="0" anchor="t"/>
          <a:lstStyle/>
          <a:p>
            <a:pPr marL="0" indent="0">
              <a:lnSpc>
                <a:spcPts val="1900"/>
              </a:lnSpc>
              <a:buNone/>
            </a:pPr>
            <a:r>
              <a:rPr lang="en-US" sz="1400" dirty="0">
                <a:solidFill>
                  <a:srgbClr val="1A1A1A"/>
                </a:solidFill>
                <a:latin typeface="Calibri" pitchFamily="34" charset="0"/>
                <a:ea typeface="Calibri" pitchFamily="34" charset="-122"/>
                <a:cs typeface="Calibri" pitchFamily="34" charset="-120"/>
              </a:rPr>
              <a:t>Energie geht nie verloren, sondern wird nur in andere Energieformen umgewandelt (Energieerhaltung).</a:t>
            </a:r>
            <a:endParaRPr lang="en-US" sz="1400" dirty="0"/>
          </a:p>
        </p:txBody>
      </p:sp>
      <p:sp>
        <p:nvSpPr>
          <p:cNvPr id="9" name="Text 7"/>
          <p:cNvSpPr txBox="1"/>
          <p:nvPr/>
        </p:nvSpPr>
        <p:spPr>
          <a:xfrm>
            <a:off x="7315200" y="1280160"/>
            <a:ext cx="4325112" cy="329184"/>
          </a:xfrm>
          <a:prstGeom prst="rect">
            <a:avLst/>
          </a:prstGeom>
          <a:noFill/>
          <a:ln/>
        </p:spPr>
        <p:txBody>
          <a:bodyPr wrap="square" lIns="0" tIns="0" rIns="0" bIns="0" rtlCol="0" anchor="ctr"/>
          <a:lstStyle/>
          <a:p>
            <a:pPr marL="0" indent="0">
              <a:buNone/>
            </a:pPr>
            <a:r>
              <a:rPr lang="en-US" sz="1500" b="1" dirty="0">
                <a:solidFill>
                  <a:srgbClr val="1B4F91"/>
                </a:solidFill>
                <a:latin typeface="Calibri" pitchFamily="34" charset="0"/>
                <a:ea typeface="Calibri" pitchFamily="34" charset="-122"/>
                <a:cs typeface="Calibri" pitchFamily="34" charset="-120"/>
              </a:rPr>
              <a:t>Die sieben Energieformen</a:t>
            </a:r>
            <a:endParaRPr lang="en-US" sz="1500" dirty="0"/>
          </a:p>
        </p:txBody>
      </p:sp>
      <p:sp>
        <p:nvSpPr>
          <p:cNvPr id="10" name="Text 8"/>
          <p:cNvSpPr txBox="1"/>
          <p:nvPr/>
        </p:nvSpPr>
        <p:spPr>
          <a:xfrm>
            <a:off x="7315200" y="1691640"/>
            <a:ext cx="4325112" cy="2194560"/>
          </a:xfrm>
          <a:prstGeom prst="rect">
            <a:avLst/>
          </a:prstGeom>
          <a:noFill/>
          <a:ln/>
        </p:spPr>
        <p:txBody>
          <a:bodyPr wrap="square" lIns="0" tIns="0" rIns="0" bIns="0" rtlCol="0" anchor="t"/>
          <a:lstStyle/>
          <a:p>
            <a:pPr marL="177800" indent="-177800">
              <a:lnSpc>
                <a:spcPts val="1600"/>
              </a:lnSpc>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Chemische Energie</a:t>
            </a:r>
            <a:endParaRPr lang="en-US" sz="1300" dirty="0"/>
          </a:p>
          <a:p>
            <a:pPr marL="177800" indent="-177800">
              <a:lnSpc>
                <a:spcPts val="1600"/>
              </a:lnSpc>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Kernenergie</a:t>
            </a:r>
            <a:endParaRPr lang="en-US" sz="1300" dirty="0"/>
          </a:p>
          <a:p>
            <a:pPr marL="177800" indent="-177800">
              <a:lnSpc>
                <a:spcPts val="1600"/>
              </a:lnSpc>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Bewegungsenergie (kinetisch)</a:t>
            </a:r>
            <a:endParaRPr lang="en-US" sz="1300" dirty="0"/>
          </a:p>
          <a:p>
            <a:pPr marL="177800" indent="-177800">
              <a:lnSpc>
                <a:spcPts val="1600"/>
              </a:lnSpc>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Lageenergie (potentiell)</a:t>
            </a:r>
            <a:endParaRPr lang="en-US" sz="1300" dirty="0"/>
          </a:p>
          <a:p>
            <a:pPr marL="177800" indent="-177800">
              <a:lnSpc>
                <a:spcPts val="1600"/>
              </a:lnSpc>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Elektrische Energie</a:t>
            </a:r>
            <a:endParaRPr lang="en-US" sz="1300" dirty="0"/>
          </a:p>
          <a:p>
            <a:pPr marL="177800" indent="-177800">
              <a:lnSpc>
                <a:spcPts val="1600"/>
              </a:lnSpc>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Strahlungsenergie</a:t>
            </a:r>
            <a:endParaRPr lang="en-US" sz="1300" dirty="0"/>
          </a:p>
          <a:p>
            <a:pPr marL="177800" indent="-177800">
              <a:lnSpc>
                <a:spcPts val="1600"/>
              </a:lnSpc>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Wärme / innere Energie</a:t>
            </a:r>
            <a:endParaRPr lang="en-US" sz="1300" dirty="0"/>
          </a:p>
        </p:txBody>
      </p:sp>
      <p:sp>
        <p:nvSpPr>
          <p:cNvPr id="11" name="Shape 9"/>
          <p:cNvSpPr/>
          <p:nvPr/>
        </p:nvSpPr>
        <p:spPr>
          <a:xfrm>
            <a:off x="7315200" y="3977640"/>
            <a:ext cx="4325112" cy="1371600"/>
          </a:xfrm>
          <a:prstGeom prst="rect">
            <a:avLst/>
          </a:prstGeom>
          <a:solidFill>
            <a:srgbClr val="FFFFFF"/>
          </a:solidFill>
          <a:ln w="15875">
            <a:solidFill>
              <a:srgbClr val="2E7D32"/>
            </a:solidFill>
            <a:prstDash val="solid"/>
          </a:ln>
        </p:spPr>
        <p:txBody>
          <a:bodyPr/>
          <a:lstStyle/>
          <a:p>
            <a:endParaRPr lang="de-DE"/>
          </a:p>
        </p:txBody>
      </p:sp>
      <p:sp>
        <p:nvSpPr>
          <p:cNvPr id="12" name="Text 10"/>
          <p:cNvSpPr txBox="1"/>
          <p:nvPr/>
        </p:nvSpPr>
        <p:spPr>
          <a:xfrm>
            <a:off x="7479792" y="4069080"/>
            <a:ext cx="3995928" cy="274320"/>
          </a:xfrm>
          <a:prstGeom prst="rect">
            <a:avLst/>
          </a:prstGeom>
          <a:noFill/>
          <a:ln/>
        </p:spPr>
        <p:txBody>
          <a:bodyPr wrap="square" lIns="0" tIns="0" rIns="0" bIns="0"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Wichtig</a:t>
            </a:r>
            <a:endParaRPr lang="en-US" sz="1250" dirty="0"/>
          </a:p>
        </p:txBody>
      </p:sp>
      <p:sp>
        <p:nvSpPr>
          <p:cNvPr id="13" name="Text 11"/>
          <p:cNvSpPr txBox="1"/>
          <p:nvPr/>
        </p:nvSpPr>
        <p:spPr>
          <a:xfrm>
            <a:off x="7479792" y="4416552"/>
            <a:ext cx="3995928" cy="822960"/>
          </a:xfrm>
          <a:prstGeom prst="rect">
            <a:avLst/>
          </a:prstGeom>
          <a:noFill/>
          <a:ln/>
        </p:spPr>
        <p:txBody>
          <a:bodyPr wrap="square" lIns="0" tIns="0" rIns="0" bIns="0" rtlCol="0" anchor="t"/>
          <a:lstStyle/>
          <a:p>
            <a:pPr marL="0" indent="0">
              <a:lnSpc>
                <a:spcPts val="1800"/>
              </a:lnSpc>
              <a:buNone/>
            </a:pPr>
            <a:r>
              <a:rPr lang="en-US" sz="1300" dirty="0">
                <a:solidFill>
                  <a:srgbClr val="1A1A1A"/>
                </a:solidFill>
                <a:latin typeface="Calibri" pitchFamily="34" charset="0"/>
                <a:ea typeface="Calibri" pitchFamily="34" charset="-122"/>
                <a:cs typeface="Calibri" pitchFamily="34" charset="-120"/>
              </a:rPr>
              <a:t>Der Großteil unserer Energie stammt ursprünglich von der Sonne (Grundlage erneuerbarer Energien).</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11091672" cy="292608"/>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Physik 9  ·  A – Energie als Erhaltungsgröße  ·  1.1 Energie und Energieformen</a:t>
            </a:r>
            <a:endParaRPr lang="en-US" sz="1100" dirty="0"/>
          </a:p>
        </p:txBody>
      </p:sp>
      <p:sp>
        <p:nvSpPr>
          <p:cNvPr id="3" name="Text 1"/>
          <p:cNvSpPr txBox="1"/>
          <p:nvPr/>
        </p:nvSpPr>
        <p:spPr>
          <a:xfrm>
            <a:off x="548640" y="530352"/>
            <a:ext cx="11091672" cy="502920"/>
          </a:xfrm>
          <a:prstGeom prst="rect">
            <a:avLst/>
          </a:prstGeom>
          <a:noFill/>
          <a:ln/>
        </p:spPr>
        <p:txBody>
          <a:bodyPr wrap="square" lIns="0" tIns="0" rIns="0" bIns="0" rtlCol="0" anchor="ctr"/>
          <a:lstStyle/>
          <a:p>
            <a:pPr marL="0" indent="0">
              <a:buNone/>
            </a:pPr>
            <a:r>
              <a:rPr lang="en-US" sz="2600" b="1" dirty="0">
                <a:solidFill>
                  <a:srgbClr val="1B4F91"/>
                </a:solidFill>
                <a:latin typeface="Calibri" pitchFamily="34" charset="0"/>
                <a:ea typeface="Calibri" pitchFamily="34" charset="-122"/>
                <a:cs typeface="Calibri" pitchFamily="34" charset="-120"/>
              </a:rPr>
              <a:t>Mechanische Energieformen</a:t>
            </a:r>
            <a:endParaRPr lang="en-US" sz="2600" dirty="0"/>
          </a:p>
        </p:txBody>
      </p:sp>
      <p:sp>
        <p:nvSpPr>
          <p:cNvPr id="4" name="Text 2"/>
          <p:cNvSpPr txBox="1"/>
          <p:nvPr/>
        </p:nvSpPr>
        <p:spPr>
          <a:xfrm>
            <a:off x="548640" y="1298448"/>
            <a:ext cx="5943600" cy="914400"/>
          </a:xfrm>
          <a:prstGeom prst="rect">
            <a:avLst/>
          </a:prstGeom>
          <a:noFill/>
          <a:ln/>
        </p:spPr>
        <p:txBody>
          <a:bodyPr wrap="square" lIns="0" tIns="0" rIns="0" bIns="0" rtlCol="0" anchor="t"/>
          <a:lstStyle/>
          <a:p>
            <a:pPr marL="0" indent="0">
              <a:lnSpc>
                <a:spcPts val="1800"/>
              </a:lnSpc>
              <a:buNone/>
            </a:pPr>
            <a:r>
              <a:rPr lang="en-US" sz="1350" dirty="0">
                <a:solidFill>
                  <a:srgbClr val="1A1A1A"/>
                </a:solidFill>
                <a:latin typeface="Calibri" pitchFamily="34" charset="0"/>
                <a:ea typeface="Calibri" pitchFamily="34" charset="-122"/>
                <a:cs typeface="Calibri" pitchFamily="34" charset="-120"/>
              </a:rPr>
              <a:t>In der Mechanik betrachtet man im Wesentlichen drei Arten von Energie: Bewegungsenergie, Höhenenergie und Spannenergie. Diese können durch verschiedene Vorgänge ineinander umgewandelt werden.</a:t>
            </a:r>
            <a:endParaRPr lang="en-US" sz="1350" dirty="0"/>
          </a:p>
        </p:txBody>
      </p:sp>
      <p:pic>
        <p:nvPicPr>
          <p:cNvPr id="5" name="Image 0" descr="final_rutsche.png"/>
          <p:cNvPicPr>
            <a:picLocks noChangeAspect="1"/>
          </p:cNvPicPr>
          <p:nvPr/>
        </p:nvPicPr>
        <p:blipFill>
          <a:blip r:embed="rId3"/>
          <a:stretch>
            <a:fillRect/>
          </a:stretch>
        </p:blipFill>
        <p:spPr>
          <a:xfrm>
            <a:off x="548640" y="2331720"/>
            <a:ext cx="1644585" cy="1463040"/>
          </a:xfrm>
          <a:prstGeom prst="rect">
            <a:avLst/>
          </a:prstGeom>
        </p:spPr>
      </p:pic>
      <p:pic>
        <p:nvPicPr>
          <p:cNvPr id="6" name="Image 1" descr="final_achterbahn.png"/>
          <p:cNvPicPr>
            <a:picLocks noChangeAspect="1"/>
          </p:cNvPicPr>
          <p:nvPr/>
        </p:nvPicPr>
        <p:blipFill>
          <a:blip r:embed="rId4"/>
          <a:stretch>
            <a:fillRect/>
          </a:stretch>
        </p:blipFill>
        <p:spPr>
          <a:xfrm>
            <a:off x="2302953" y="2331720"/>
            <a:ext cx="1281495" cy="1463040"/>
          </a:xfrm>
          <a:prstGeom prst="rect">
            <a:avLst/>
          </a:prstGeom>
        </p:spPr>
      </p:pic>
      <p:pic>
        <p:nvPicPr>
          <p:cNvPr id="7" name="Image 2" descr="final_trampolin.png"/>
          <p:cNvPicPr>
            <a:picLocks noChangeAspect="1"/>
          </p:cNvPicPr>
          <p:nvPr/>
        </p:nvPicPr>
        <p:blipFill>
          <a:blip r:embed="rId5"/>
          <a:stretch>
            <a:fillRect/>
          </a:stretch>
        </p:blipFill>
        <p:spPr>
          <a:xfrm>
            <a:off x="548640" y="3904488"/>
            <a:ext cx="3035808" cy="2129008"/>
          </a:xfrm>
          <a:prstGeom prst="rect">
            <a:avLst/>
          </a:prstGeom>
        </p:spPr>
      </p:pic>
      <p:pic>
        <p:nvPicPr>
          <p:cNvPr id="8" name="Image 3" descr="final_turmspringer.png"/>
          <p:cNvPicPr>
            <a:picLocks noChangeAspect="1"/>
          </p:cNvPicPr>
          <p:nvPr/>
        </p:nvPicPr>
        <p:blipFill>
          <a:blip r:embed="rId6"/>
          <a:stretch>
            <a:fillRect/>
          </a:stretch>
        </p:blipFill>
        <p:spPr>
          <a:xfrm>
            <a:off x="3694176" y="2331720"/>
            <a:ext cx="1740570" cy="3701776"/>
          </a:xfrm>
          <a:prstGeom prst="rect">
            <a:avLst/>
          </a:prstGeom>
        </p:spPr>
      </p:pic>
      <p:sp>
        <p:nvSpPr>
          <p:cNvPr id="9" name="Text 3"/>
          <p:cNvSpPr txBox="1"/>
          <p:nvPr/>
        </p:nvSpPr>
        <p:spPr>
          <a:xfrm>
            <a:off x="6858000" y="1298448"/>
            <a:ext cx="4782312" cy="329184"/>
          </a:xfrm>
          <a:prstGeom prst="rect">
            <a:avLst/>
          </a:prstGeom>
          <a:noFill/>
          <a:ln/>
        </p:spPr>
        <p:txBody>
          <a:bodyPr wrap="square" lIns="0" tIns="0" rIns="0" bIns="0" rtlCol="0" anchor="ctr"/>
          <a:lstStyle/>
          <a:p>
            <a:pPr marL="0" indent="0">
              <a:buNone/>
            </a:pPr>
            <a:r>
              <a:rPr lang="en-US" sz="1500" b="1" dirty="0">
                <a:solidFill>
                  <a:srgbClr val="1B4F91"/>
                </a:solidFill>
                <a:latin typeface="Calibri" pitchFamily="34" charset="0"/>
                <a:ea typeface="Calibri" pitchFamily="34" charset="-122"/>
                <a:cs typeface="Calibri" pitchFamily="34" charset="-120"/>
              </a:rPr>
              <a:t>Arbeitsauftrag</a:t>
            </a:r>
            <a:endParaRPr lang="en-US" sz="1500" dirty="0"/>
          </a:p>
        </p:txBody>
      </p:sp>
      <p:sp>
        <p:nvSpPr>
          <p:cNvPr id="10" name="Text 4"/>
          <p:cNvSpPr txBox="1"/>
          <p:nvPr/>
        </p:nvSpPr>
        <p:spPr>
          <a:xfrm>
            <a:off x="6858000" y="1691640"/>
            <a:ext cx="411480" cy="548640"/>
          </a:xfrm>
          <a:prstGeom prst="rect">
            <a:avLst/>
          </a:prstGeom>
          <a:noFill/>
          <a:ln/>
        </p:spPr>
        <p:txBody>
          <a:bodyPr wrap="square" lIns="0" tIns="0" rIns="0" bIns="0" rtlCol="0" anchor="t"/>
          <a:lstStyle/>
          <a:p>
            <a:pPr marL="0" indent="0">
              <a:buNone/>
            </a:pPr>
            <a:r>
              <a:rPr lang="en-US" sz="1400" b="1" dirty="0">
                <a:solidFill>
                  <a:srgbClr val="1B4F91"/>
                </a:solidFill>
                <a:latin typeface="Calibri" pitchFamily="34" charset="0"/>
                <a:ea typeface="Calibri" pitchFamily="34" charset="-122"/>
                <a:cs typeface="Calibri" pitchFamily="34" charset="-120"/>
              </a:rPr>
              <a:t>a)</a:t>
            </a:r>
            <a:endParaRPr lang="en-US" sz="1400" dirty="0"/>
          </a:p>
        </p:txBody>
      </p:sp>
      <p:sp>
        <p:nvSpPr>
          <p:cNvPr id="11" name="Text 5"/>
          <p:cNvSpPr txBox="1"/>
          <p:nvPr/>
        </p:nvSpPr>
        <p:spPr>
          <a:xfrm>
            <a:off x="7269480" y="1691640"/>
            <a:ext cx="4370832" cy="1554480"/>
          </a:xfrm>
          <a:prstGeom prst="rect">
            <a:avLst/>
          </a:prstGeom>
          <a:noFill/>
          <a:ln/>
        </p:spPr>
        <p:txBody>
          <a:bodyPr wrap="square" lIns="0" tIns="0" rIns="0" bIns="0" rtlCol="0" anchor="t"/>
          <a:lstStyle/>
          <a:p>
            <a:pPr marL="0" indent="0">
              <a:lnSpc>
                <a:spcPts val="1800"/>
              </a:lnSpc>
              <a:buNone/>
            </a:pPr>
            <a:r>
              <a:rPr lang="en-US" sz="1350" dirty="0">
                <a:solidFill>
                  <a:srgbClr val="1A1A1A"/>
                </a:solidFill>
                <a:latin typeface="Calibri" pitchFamily="34" charset="0"/>
                <a:ea typeface="Calibri" pitchFamily="34" charset="-122"/>
                <a:cs typeface="Calibri" pitchFamily="34" charset="-120"/>
              </a:rPr>
              <a:t>Beschreibe die Energieformen, die du jeweils in den Bildern links erkennen kannst.</a:t>
            </a:r>
            <a:endParaRPr lang="en-US" sz="1350" dirty="0"/>
          </a:p>
        </p:txBody>
      </p:sp>
      <p:sp>
        <p:nvSpPr>
          <p:cNvPr id="12" name="Text 6"/>
          <p:cNvSpPr txBox="1"/>
          <p:nvPr/>
        </p:nvSpPr>
        <p:spPr>
          <a:xfrm>
            <a:off x="6858000" y="2834640"/>
            <a:ext cx="411480" cy="548640"/>
          </a:xfrm>
          <a:prstGeom prst="rect">
            <a:avLst/>
          </a:prstGeom>
          <a:noFill/>
          <a:ln/>
        </p:spPr>
        <p:txBody>
          <a:bodyPr wrap="square" lIns="0" tIns="0" rIns="0" bIns="0" rtlCol="0" anchor="t"/>
          <a:lstStyle/>
          <a:p>
            <a:pPr marL="0" indent="0">
              <a:buNone/>
            </a:pPr>
            <a:r>
              <a:rPr lang="en-US" sz="1400" b="1" dirty="0">
                <a:solidFill>
                  <a:srgbClr val="1B4F91"/>
                </a:solidFill>
                <a:latin typeface="Calibri" pitchFamily="34" charset="0"/>
                <a:ea typeface="Calibri" pitchFamily="34" charset="-122"/>
                <a:cs typeface="Calibri" pitchFamily="34" charset="-120"/>
              </a:rPr>
              <a:t>b)</a:t>
            </a:r>
            <a:endParaRPr lang="en-US" sz="1400" dirty="0"/>
          </a:p>
        </p:txBody>
      </p:sp>
      <p:sp>
        <p:nvSpPr>
          <p:cNvPr id="13" name="Text 7"/>
          <p:cNvSpPr txBox="1"/>
          <p:nvPr/>
        </p:nvSpPr>
        <p:spPr>
          <a:xfrm>
            <a:off x="7269480" y="2834640"/>
            <a:ext cx="4370832" cy="1554480"/>
          </a:xfrm>
          <a:prstGeom prst="rect">
            <a:avLst/>
          </a:prstGeom>
          <a:noFill/>
          <a:ln/>
        </p:spPr>
        <p:txBody>
          <a:bodyPr wrap="square" lIns="0" tIns="0" rIns="0" bIns="0" rtlCol="0" anchor="t"/>
          <a:lstStyle/>
          <a:p>
            <a:pPr marL="0" indent="0">
              <a:lnSpc>
                <a:spcPts val="1800"/>
              </a:lnSpc>
              <a:buNone/>
            </a:pPr>
            <a:r>
              <a:rPr lang="en-US" sz="1350" dirty="0">
                <a:solidFill>
                  <a:srgbClr val="1A1A1A"/>
                </a:solidFill>
                <a:latin typeface="Calibri" pitchFamily="34" charset="0"/>
                <a:ea typeface="Calibri" pitchFamily="34" charset="-122"/>
                <a:cs typeface="Calibri" pitchFamily="34" charset="-120"/>
              </a:rPr>
              <a:t>Bei jeder Energieumwandlung spielt auch innere Energie eine Rolle, d. h. es erwärmt sich etwas dabei. Beschreibe für jedes Bild den Vorgang, bei dem sich im konkreten Fall jeweils etwas erwärmt.</a:t>
            </a:r>
            <a:endParaRPr lang="en-US" sz="1350" dirty="0"/>
          </a:p>
        </p:txBody>
      </p:sp>
      <p:sp>
        <p:nvSpPr>
          <p:cNvPr id="14" name="Text 8"/>
          <p:cNvSpPr txBox="1"/>
          <p:nvPr/>
        </p:nvSpPr>
        <p:spPr>
          <a:xfrm>
            <a:off x="6858000" y="4526280"/>
            <a:ext cx="411480" cy="548640"/>
          </a:xfrm>
          <a:prstGeom prst="rect">
            <a:avLst/>
          </a:prstGeom>
          <a:noFill/>
          <a:ln/>
        </p:spPr>
        <p:txBody>
          <a:bodyPr wrap="square" lIns="0" tIns="0" rIns="0" bIns="0" rtlCol="0" anchor="t"/>
          <a:lstStyle/>
          <a:p>
            <a:pPr marL="0" indent="0">
              <a:buNone/>
            </a:pPr>
            <a:r>
              <a:rPr lang="en-US" sz="1400" b="1" dirty="0">
                <a:solidFill>
                  <a:srgbClr val="1B4F91"/>
                </a:solidFill>
                <a:latin typeface="Calibri" pitchFamily="34" charset="0"/>
                <a:ea typeface="Calibri" pitchFamily="34" charset="-122"/>
                <a:cs typeface="Calibri" pitchFamily="34" charset="-120"/>
              </a:rPr>
              <a:t>c)</a:t>
            </a:r>
            <a:endParaRPr lang="en-US" sz="1400" dirty="0"/>
          </a:p>
        </p:txBody>
      </p:sp>
      <p:sp>
        <p:nvSpPr>
          <p:cNvPr id="15" name="Text 9"/>
          <p:cNvSpPr txBox="1"/>
          <p:nvPr/>
        </p:nvSpPr>
        <p:spPr>
          <a:xfrm>
            <a:off x="7269480" y="4526280"/>
            <a:ext cx="4370832" cy="1554480"/>
          </a:xfrm>
          <a:prstGeom prst="rect">
            <a:avLst/>
          </a:prstGeom>
          <a:noFill/>
          <a:ln/>
        </p:spPr>
        <p:txBody>
          <a:bodyPr wrap="square" lIns="0" tIns="0" rIns="0" bIns="0" rtlCol="0" anchor="t"/>
          <a:lstStyle/>
          <a:p>
            <a:pPr marL="0" indent="0">
              <a:lnSpc>
                <a:spcPts val="1800"/>
              </a:lnSpc>
              <a:buNone/>
            </a:pPr>
            <a:r>
              <a:rPr lang="en-US" sz="1350" dirty="0">
                <a:solidFill>
                  <a:srgbClr val="1A1A1A"/>
                </a:solidFill>
                <a:latin typeface="Calibri" pitchFamily="34" charset="0"/>
                <a:ea typeface="Calibri" pitchFamily="34" charset="-122"/>
                <a:cs typeface="Calibri" pitchFamily="34" charset="-120"/>
              </a:rPr>
              <a:t>Erstelle nach dem Muster der Bilder eine Skizze für eine Sportart deiner Wahl und beschreibe die auftretenden Energieformen. Beachte dabei auch immer die innere Energie.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11091672" cy="292608"/>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Physik 9  ·  A – Energie als Erhaltungsgröße  ·  1.1 Energie und Energieformen</a:t>
            </a:r>
            <a:endParaRPr lang="en-US" sz="1100" dirty="0"/>
          </a:p>
        </p:txBody>
      </p:sp>
      <p:sp>
        <p:nvSpPr>
          <p:cNvPr id="3" name="Text 1"/>
          <p:cNvSpPr txBox="1"/>
          <p:nvPr/>
        </p:nvSpPr>
        <p:spPr>
          <a:xfrm>
            <a:off x="548640" y="530352"/>
            <a:ext cx="11091672" cy="502920"/>
          </a:xfrm>
          <a:prstGeom prst="rect">
            <a:avLst/>
          </a:prstGeom>
          <a:noFill/>
          <a:ln/>
        </p:spPr>
        <p:txBody>
          <a:bodyPr wrap="square" lIns="0" tIns="0" rIns="0" bIns="0" rtlCol="0" anchor="ctr"/>
          <a:lstStyle/>
          <a:p>
            <a:pPr marL="0" indent="0">
              <a:buNone/>
            </a:pPr>
            <a:r>
              <a:rPr lang="en-US" sz="2600" b="1" dirty="0">
                <a:solidFill>
                  <a:srgbClr val="1B4F91"/>
                </a:solidFill>
                <a:latin typeface="Calibri" pitchFamily="34" charset="0"/>
                <a:ea typeface="Calibri" pitchFamily="34" charset="-122"/>
                <a:cs typeface="Calibri" pitchFamily="34" charset="-120"/>
              </a:rPr>
              <a:t>Energie in Zahlen</a:t>
            </a:r>
            <a:endParaRPr lang="en-US" sz="2600" dirty="0"/>
          </a:p>
        </p:txBody>
      </p:sp>
      <p:sp>
        <p:nvSpPr>
          <p:cNvPr id="4" name="Text 2"/>
          <p:cNvSpPr txBox="1"/>
          <p:nvPr/>
        </p:nvSpPr>
        <p:spPr>
          <a:xfrm>
            <a:off x="548640" y="1298448"/>
            <a:ext cx="11091672" cy="1051560"/>
          </a:xfrm>
          <a:prstGeom prst="rect">
            <a:avLst/>
          </a:prstGeom>
          <a:noFill/>
          <a:ln/>
        </p:spPr>
        <p:txBody>
          <a:bodyPr wrap="square" lIns="0" tIns="0" rIns="0" bIns="0" rtlCol="0" anchor="t"/>
          <a:lstStyle/>
          <a:p>
            <a:pPr marL="0" indent="0">
              <a:lnSpc>
                <a:spcPts val="2000"/>
              </a:lnSpc>
              <a:buNone/>
            </a:pPr>
            <a:r>
              <a:rPr lang="en-US" sz="1400" dirty="0">
                <a:solidFill>
                  <a:srgbClr val="1A1A1A"/>
                </a:solidFill>
                <a:latin typeface="Calibri" pitchFamily="34" charset="0"/>
                <a:ea typeface="Calibri" pitchFamily="34" charset="-122"/>
                <a:cs typeface="Calibri" pitchFamily="34" charset="-120"/>
              </a:rPr>
              <a:t>Damit man mit Energie rechnen kann, misst man sie in </a:t>
            </a:r>
            <a:r>
              <a:rPr lang="en-US" sz="1400" b="1" dirty="0">
                <a:solidFill>
                  <a:srgbClr val="1B4F91"/>
                </a:solidFill>
                <a:latin typeface="Calibri" pitchFamily="34" charset="0"/>
                <a:ea typeface="Calibri" pitchFamily="34" charset="-122"/>
                <a:cs typeface="Calibri" pitchFamily="34" charset="-120"/>
              </a:rPr>
              <a:t>Joule (J)</a:t>
            </a:r>
            <a:r>
              <a:rPr lang="en-US" sz="1400" dirty="0">
                <a:solidFill>
                  <a:srgbClr val="1A1A1A"/>
                </a:solidFill>
                <a:latin typeface="Calibri" pitchFamily="34" charset="0"/>
                <a:ea typeface="Calibri" pitchFamily="34" charset="-122"/>
                <a:cs typeface="Calibri" pitchFamily="34" charset="-120"/>
              </a:rPr>
              <a:t>. Ein Joule ist ziemlich wenig: Hebt man eine Schokolade einen Meter hoch, braucht man etwa 1 J. Für größere Energiemengen ist Joule unpraktisch – im Alltag verwendet man deshalb oft die </a:t>
            </a:r>
            <a:r>
              <a:rPr lang="en-US" sz="1400" b="1" dirty="0">
                <a:solidFill>
                  <a:srgbClr val="1B4F91"/>
                </a:solidFill>
                <a:latin typeface="Calibri" pitchFamily="34" charset="0"/>
                <a:ea typeface="Calibri" pitchFamily="34" charset="-122"/>
                <a:cs typeface="Calibri" pitchFamily="34" charset="-120"/>
              </a:rPr>
              <a:t>Kilowattstunde (kWh)</a:t>
            </a:r>
            <a:r>
              <a:rPr lang="en-US" sz="1400" dirty="0">
                <a:solidFill>
                  <a:srgbClr val="1A1A1A"/>
                </a:solidFill>
                <a:latin typeface="Calibri" pitchFamily="34" charset="0"/>
                <a:ea typeface="Calibri" pitchFamily="34" charset="-122"/>
                <a:cs typeface="Calibri" pitchFamily="34" charset="-120"/>
              </a:rPr>
              <a:t>.</a:t>
            </a:r>
            <a:endParaRPr lang="en-US" sz="1400" dirty="0"/>
          </a:p>
        </p:txBody>
      </p:sp>
      <p:sp>
        <p:nvSpPr>
          <p:cNvPr id="5" name="Shape 3"/>
          <p:cNvSpPr/>
          <p:nvPr/>
        </p:nvSpPr>
        <p:spPr>
          <a:xfrm>
            <a:off x="548640" y="2423160"/>
            <a:ext cx="11091672" cy="777240"/>
          </a:xfrm>
          <a:prstGeom prst="rect">
            <a:avLst/>
          </a:prstGeom>
          <a:solidFill>
            <a:srgbClr val="FFFFFF"/>
          </a:solidFill>
          <a:ln w="15875">
            <a:solidFill>
              <a:srgbClr val="C1272D"/>
            </a:solidFill>
            <a:prstDash val="solid"/>
          </a:ln>
        </p:spPr>
        <p:txBody>
          <a:bodyPr/>
          <a:lstStyle/>
          <a:p>
            <a:endParaRPr lang="de-DE"/>
          </a:p>
        </p:txBody>
      </p:sp>
      <p:sp>
        <p:nvSpPr>
          <p:cNvPr id="6" name="Text 4"/>
          <p:cNvSpPr txBox="1"/>
          <p:nvPr/>
        </p:nvSpPr>
        <p:spPr>
          <a:xfrm>
            <a:off x="713232" y="2514600"/>
            <a:ext cx="10762488" cy="274320"/>
          </a:xfrm>
          <a:prstGeom prst="rect">
            <a:avLst/>
          </a:prstGeom>
          <a:noFill/>
          <a:ln/>
        </p:spPr>
        <p:txBody>
          <a:bodyPr wrap="square" lIns="0" tIns="0" rIns="0" bIns="0" rtlCol="0" anchor="ctr"/>
          <a:lstStyle/>
          <a:p>
            <a:pPr marL="0" indent="0">
              <a:buNone/>
            </a:pPr>
            <a:r>
              <a:rPr lang="en-US" sz="1250" b="1" dirty="0">
                <a:solidFill>
                  <a:srgbClr val="C1272D"/>
                </a:solidFill>
                <a:latin typeface="Calibri" pitchFamily="34" charset="0"/>
                <a:ea typeface="Calibri" pitchFamily="34" charset="-122"/>
                <a:cs typeface="Calibri" pitchFamily="34" charset="-120"/>
              </a:rPr>
              <a:t>Merksatz: Umrechnung</a:t>
            </a:r>
            <a:endParaRPr lang="en-US" sz="1250" dirty="0"/>
          </a:p>
        </p:txBody>
      </p:sp>
      <p:sp>
        <p:nvSpPr>
          <p:cNvPr id="7" name="Text 5"/>
          <p:cNvSpPr txBox="1"/>
          <p:nvPr/>
        </p:nvSpPr>
        <p:spPr>
          <a:xfrm>
            <a:off x="713232" y="2788920"/>
            <a:ext cx="10762488" cy="365760"/>
          </a:xfrm>
          <a:prstGeom prst="rect">
            <a:avLst/>
          </a:prstGeom>
          <a:noFill/>
          <a:ln/>
        </p:spPr>
        <p:txBody>
          <a:bodyPr wrap="square" lIns="0" tIns="0" rIns="0" bIns="0" rtlCol="0" anchor="t"/>
          <a:lstStyle/>
          <a:p>
            <a:pPr marL="0" indent="0">
              <a:buNone/>
            </a:pPr>
            <a:r>
              <a:rPr lang="en-US" sz="1500" b="1" dirty="0">
                <a:solidFill>
                  <a:srgbClr val="1A1A1A"/>
                </a:solidFill>
                <a:latin typeface="Calibri" pitchFamily="34" charset="0"/>
                <a:ea typeface="Calibri" pitchFamily="34" charset="-122"/>
                <a:cs typeface="Calibri" pitchFamily="34" charset="-120"/>
              </a:rPr>
              <a:t>1 kWh = 3.600.000 J = 3,6 · 10⁶ J</a:t>
            </a:r>
            <a:endParaRPr lang="en-US" sz="1500" dirty="0"/>
          </a:p>
        </p:txBody>
      </p:sp>
      <p:sp>
        <p:nvSpPr>
          <p:cNvPr id="8" name="Text 6"/>
          <p:cNvSpPr txBox="1"/>
          <p:nvPr/>
        </p:nvSpPr>
        <p:spPr>
          <a:xfrm>
            <a:off x="548640" y="3383280"/>
            <a:ext cx="11091672" cy="329184"/>
          </a:xfrm>
          <a:prstGeom prst="rect">
            <a:avLst/>
          </a:prstGeom>
          <a:noFill/>
          <a:ln/>
        </p:spPr>
        <p:txBody>
          <a:bodyPr wrap="square" lIns="0" tIns="0" rIns="0" bIns="0" rtlCol="0" anchor="ctr"/>
          <a:lstStyle/>
          <a:p>
            <a:pPr marL="0" indent="0">
              <a:buNone/>
            </a:pPr>
            <a:r>
              <a:rPr lang="en-US" sz="1500" b="1" dirty="0">
                <a:solidFill>
                  <a:srgbClr val="1B4F91"/>
                </a:solidFill>
                <a:latin typeface="Calibri" pitchFamily="34" charset="0"/>
                <a:ea typeface="Calibri" pitchFamily="34" charset="-122"/>
                <a:cs typeface="Calibri" pitchFamily="34" charset="-120"/>
              </a:rPr>
              <a:t>Beispiele in kWh</a:t>
            </a:r>
            <a:endParaRPr lang="en-US" sz="1500" dirty="0"/>
          </a:p>
        </p:txBody>
      </p:sp>
      <p:sp>
        <p:nvSpPr>
          <p:cNvPr id="9" name="Shape 7"/>
          <p:cNvSpPr/>
          <p:nvPr/>
        </p:nvSpPr>
        <p:spPr>
          <a:xfrm>
            <a:off x="548640" y="3749040"/>
            <a:ext cx="3453384" cy="1828800"/>
          </a:xfrm>
          <a:prstGeom prst="rect">
            <a:avLst/>
          </a:prstGeom>
          <a:solidFill>
            <a:srgbClr val="FFFFFF"/>
          </a:solidFill>
          <a:ln w="15875">
            <a:solidFill>
              <a:srgbClr val="1B4F91"/>
            </a:solidFill>
            <a:prstDash val="solid"/>
          </a:ln>
        </p:spPr>
        <p:txBody>
          <a:bodyPr/>
          <a:lstStyle/>
          <a:p>
            <a:endParaRPr lang="de-DE"/>
          </a:p>
        </p:txBody>
      </p:sp>
      <p:pic>
        <p:nvPicPr>
          <p:cNvPr id="10" name="Image 0" descr="icon_eauto.png"/>
          <p:cNvPicPr>
            <a:picLocks noChangeAspect="1"/>
          </p:cNvPicPr>
          <p:nvPr/>
        </p:nvPicPr>
        <p:blipFill>
          <a:blip r:embed="rId3"/>
          <a:stretch>
            <a:fillRect/>
          </a:stretch>
        </p:blipFill>
        <p:spPr>
          <a:xfrm>
            <a:off x="1818132" y="3913632"/>
            <a:ext cx="914400" cy="914400"/>
          </a:xfrm>
          <a:prstGeom prst="rect">
            <a:avLst/>
          </a:prstGeom>
        </p:spPr>
      </p:pic>
      <p:sp>
        <p:nvSpPr>
          <p:cNvPr id="11" name="Text 8"/>
          <p:cNvSpPr txBox="1"/>
          <p:nvPr/>
        </p:nvSpPr>
        <p:spPr>
          <a:xfrm>
            <a:off x="685800" y="4846320"/>
            <a:ext cx="3179064" cy="411480"/>
          </a:xfrm>
          <a:prstGeom prst="rect">
            <a:avLst/>
          </a:prstGeom>
          <a:noFill/>
          <a:ln/>
        </p:spPr>
        <p:txBody>
          <a:bodyPr wrap="square" lIns="0" tIns="0" rIns="0" bIns="0" rtlCol="0" anchor="t"/>
          <a:lstStyle/>
          <a:p>
            <a:pPr marL="0" indent="0" algn="ctr">
              <a:buNone/>
            </a:pPr>
            <a:r>
              <a:rPr lang="en-US" sz="1200" dirty="0">
                <a:solidFill>
                  <a:srgbClr val="1A1A1A"/>
                </a:solidFill>
                <a:latin typeface="Calibri" pitchFamily="34" charset="0"/>
                <a:ea typeface="Calibri" pitchFamily="34" charset="-122"/>
                <a:cs typeface="Calibri" pitchFamily="34" charset="-120"/>
              </a:rPr>
              <a:t>100 km mit dem E-Auto</a:t>
            </a:r>
            <a:endParaRPr lang="en-US" sz="1200" dirty="0"/>
          </a:p>
        </p:txBody>
      </p:sp>
      <p:sp>
        <p:nvSpPr>
          <p:cNvPr id="12" name="Text 9"/>
          <p:cNvSpPr txBox="1"/>
          <p:nvPr/>
        </p:nvSpPr>
        <p:spPr>
          <a:xfrm>
            <a:off x="685800" y="5212080"/>
            <a:ext cx="3179064" cy="320040"/>
          </a:xfrm>
          <a:prstGeom prst="rect">
            <a:avLst/>
          </a:prstGeom>
          <a:noFill/>
          <a:ln/>
        </p:spPr>
        <p:txBody>
          <a:bodyPr wrap="square" lIns="0" tIns="0" rIns="0" bIns="0" rtlCol="0" anchor="ctr"/>
          <a:lstStyle/>
          <a:p>
            <a:pPr marL="0" indent="0" algn="ctr">
              <a:buNone/>
            </a:pPr>
            <a:r>
              <a:rPr lang="en-US" sz="1500" b="1" dirty="0">
                <a:solidFill>
                  <a:srgbClr val="1B4F91"/>
                </a:solidFill>
                <a:latin typeface="Calibri" pitchFamily="34" charset="0"/>
                <a:ea typeface="Calibri" pitchFamily="34" charset="-122"/>
                <a:cs typeface="Calibri" pitchFamily="34" charset="-120"/>
              </a:rPr>
              <a:t>≈ 20 kWh</a:t>
            </a:r>
            <a:endParaRPr lang="en-US" sz="1500" dirty="0"/>
          </a:p>
        </p:txBody>
      </p:sp>
      <p:sp>
        <p:nvSpPr>
          <p:cNvPr id="13" name="Shape 10"/>
          <p:cNvSpPr/>
          <p:nvPr/>
        </p:nvSpPr>
        <p:spPr>
          <a:xfrm>
            <a:off x="4367784" y="3749040"/>
            <a:ext cx="3453384" cy="1828800"/>
          </a:xfrm>
          <a:prstGeom prst="rect">
            <a:avLst/>
          </a:prstGeom>
          <a:solidFill>
            <a:srgbClr val="FFFFFF"/>
          </a:solidFill>
          <a:ln w="15875">
            <a:solidFill>
              <a:srgbClr val="1B4F91"/>
            </a:solidFill>
            <a:prstDash val="solid"/>
          </a:ln>
        </p:spPr>
        <p:txBody>
          <a:bodyPr/>
          <a:lstStyle/>
          <a:p>
            <a:endParaRPr lang="de-DE"/>
          </a:p>
        </p:txBody>
      </p:sp>
      <p:pic>
        <p:nvPicPr>
          <p:cNvPr id="14" name="Image 1" descr="icon_waschmaschine.png"/>
          <p:cNvPicPr>
            <a:picLocks noChangeAspect="1"/>
          </p:cNvPicPr>
          <p:nvPr/>
        </p:nvPicPr>
        <p:blipFill>
          <a:blip r:embed="rId4"/>
          <a:stretch>
            <a:fillRect/>
          </a:stretch>
        </p:blipFill>
        <p:spPr>
          <a:xfrm>
            <a:off x="5637276" y="3913632"/>
            <a:ext cx="914400" cy="914400"/>
          </a:xfrm>
          <a:prstGeom prst="rect">
            <a:avLst/>
          </a:prstGeom>
        </p:spPr>
      </p:pic>
      <p:sp>
        <p:nvSpPr>
          <p:cNvPr id="15" name="Text 11"/>
          <p:cNvSpPr txBox="1"/>
          <p:nvPr/>
        </p:nvSpPr>
        <p:spPr>
          <a:xfrm>
            <a:off x="4504944" y="4846320"/>
            <a:ext cx="3179064" cy="411480"/>
          </a:xfrm>
          <a:prstGeom prst="rect">
            <a:avLst/>
          </a:prstGeom>
          <a:noFill/>
          <a:ln/>
        </p:spPr>
        <p:txBody>
          <a:bodyPr wrap="square" lIns="0" tIns="0" rIns="0" bIns="0" rtlCol="0" anchor="t"/>
          <a:lstStyle/>
          <a:p>
            <a:pPr marL="0" indent="0" algn="ctr">
              <a:buNone/>
            </a:pPr>
            <a:r>
              <a:rPr lang="en-US" sz="1200" dirty="0">
                <a:solidFill>
                  <a:srgbClr val="1A1A1A"/>
                </a:solidFill>
                <a:latin typeface="Calibri" pitchFamily="34" charset="0"/>
                <a:ea typeface="Calibri" pitchFamily="34" charset="-122"/>
                <a:cs typeface="Calibri" pitchFamily="34" charset="-120"/>
              </a:rPr>
              <a:t>1 Waschgang (Eco 40–60 °C)</a:t>
            </a:r>
            <a:endParaRPr lang="en-US" sz="1200" dirty="0"/>
          </a:p>
        </p:txBody>
      </p:sp>
      <p:sp>
        <p:nvSpPr>
          <p:cNvPr id="16" name="Text 12"/>
          <p:cNvSpPr txBox="1"/>
          <p:nvPr/>
        </p:nvSpPr>
        <p:spPr>
          <a:xfrm>
            <a:off x="4504944" y="5212080"/>
            <a:ext cx="3179064" cy="320040"/>
          </a:xfrm>
          <a:prstGeom prst="rect">
            <a:avLst/>
          </a:prstGeom>
          <a:noFill/>
          <a:ln/>
        </p:spPr>
        <p:txBody>
          <a:bodyPr wrap="square" lIns="0" tIns="0" rIns="0" bIns="0" rtlCol="0" anchor="ctr"/>
          <a:lstStyle/>
          <a:p>
            <a:pPr marL="0" indent="0" algn="ctr">
              <a:buNone/>
            </a:pPr>
            <a:r>
              <a:rPr lang="en-US" sz="1500" b="1" dirty="0">
                <a:solidFill>
                  <a:srgbClr val="1B4F91"/>
                </a:solidFill>
                <a:latin typeface="Calibri" pitchFamily="34" charset="0"/>
                <a:ea typeface="Calibri" pitchFamily="34" charset="-122"/>
                <a:cs typeface="Calibri" pitchFamily="34" charset="-120"/>
              </a:rPr>
              <a:t>≈ 0,8 kWh</a:t>
            </a:r>
            <a:endParaRPr lang="en-US" sz="1500" dirty="0"/>
          </a:p>
        </p:txBody>
      </p:sp>
      <p:sp>
        <p:nvSpPr>
          <p:cNvPr id="17" name="Shape 13"/>
          <p:cNvSpPr/>
          <p:nvPr/>
        </p:nvSpPr>
        <p:spPr>
          <a:xfrm>
            <a:off x="8186928" y="3749040"/>
            <a:ext cx="3453384" cy="1828800"/>
          </a:xfrm>
          <a:prstGeom prst="rect">
            <a:avLst/>
          </a:prstGeom>
          <a:solidFill>
            <a:srgbClr val="FFFFFF"/>
          </a:solidFill>
          <a:ln w="15875">
            <a:solidFill>
              <a:srgbClr val="1B4F91"/>
            </a:solidFill>
            <a:prstDash val="solid"/>
          </a:ln>
        </p:spPr>
        <p:txBody>
          <a:bodyPr/>
          <a:lstStyle/>
          <a:p>
            <a:endParaRPr lang="de-DE"/>
          </a:p>
        </p:txBody>
      </p:sp>
      <p:pic>
        <p:nvPicPr>
          <p:cNvPr id="18" name="Image 2" descr="icon_haus.png"/>
          <p:cNvPicPr>
            <a:picLocks noChangeAspect="1"/>
          </p:cNvPicPr>
          <p:nvPr/>
        </p:nvPicPr>
        <p:blipFill>
          <a:blip r:embed="rId5"/>
          <a:stretch>
            <a:fillRect/>
          </a:stretch>
        </p:blipFill>
        <p:spPr>
          <a:xfrm>
            <a:off x="9456420" y="3913632"/>
            <a:ext cx="914400" cy="914400"/>
          </a:xfrm>
          <a:prstGeom prst="rect">
            <a:avLst/>
          </a:prstGeom>
        </p:spPr>
      </p:pic>
      <p:sp>
        <p:nvSpPr>
          <p:cNvPr id="19" name="Text 14"/>
          <p:cNvSpPr txBox="1"/>
          <p:nvPr/>
        </p:nvSpPr>
        <p:spPr>
          <a:xfrm>
            <a:off x="8324088" y="4846320"/>
            <a:ext cx="3179064" cy="411480"/>
          </a:xfrm>
          <a:prstGeom prst="rect">
            <a:avLst/>
          </a:prstGeom>
          <a:noFill/>
          <a:ln/>
        </p:spPr>
        <p:txBody>
          <a:bodyPr wrap="square" lIns="0" tIns="0" rIns="0" bIns="0" rtlCol="0" anchor="t"/>
          <a:lstStyle/>
          <a:p>
            <a:pPr marL="0" indent="0" algn="ctr">
              <a:buNone/>
            </a:pPr>
            <a:r>
              <a:rPr lang="en-US" sz="1200" dirty="0">
                <a:solidFill>
                  <a:srgbClr val="1A1A1A"/>
                </a:solidFill>
                <a:latin typeface="Calibri" pitchFamily="34" charset="0"/>
                <a:ea typeface="Calibri" pitchFamily="34" charset="-122"/>
                <a:cs typeface="Calibri" pitchFamily="34" charset="-120"/>
              </a:rPr>
              <a:t>2-Personen-Haushalt pro Tag</a:t>
            </a:r>
            <a:endParaRPr lang="en-US" sz="1200" dirty="0"/>
          </a:p>
        </p:txBody>
      </p:sp>
      <p:sp>
        <p:nvSpPr>
          <p:cNvPr id="20" name="Text 15"/>
          <p:cNvSpPr txBox="1"/>
          <p:nvPr/>
        </p:nvSpPr>
        <p:spPr>
          <a:xfrm>
            <a:off x="8324088" y="5212080"/>
            <a:ext cx="3179064" cy="320040"/>
          </a:xfrm>
          <a:prstGeom prst="rect">
            <a:avLst/>
          </a:prstGeom>
          <a:noFill/>
          <a:ln/>
        </p:spPr>
        <p:txBody>
          <a:bodyPr wrap="square" lIns="0" tIns="0" rIns="0" bIns="0" rtlCol="0" anchor="ctr"/>
          <a:lstStyle/>
          <a:p>
            <a:pPr marL="0" indent="0" algn="ctr">
              <a:buNone/>
            </a:pPr>
            <a:r>
              <a:rPr lang="en-US" sz="1500" b="1" dirty="0">
                <a:solidFill>
                  <a:srgbClr val="1B4F91"/>
                </a:solidFill>
                <a:latin typeface="Calibri" pitchFamily="34" charset="0"/>
                <a:ea typeface="Calibri" pitchFamily="34" charset="-122"/>
                <a:cs typeface="Calibri" pitchFamily="34" charset="-120"/>
              </a:rPr>
              <a:t>≈ 7 kWh</a:t>
            </a:r>
            <a:endParaRPr lang="en-US" sz="1500" dirty="0"/>
          </a:p>
        </p:txBody>
      </p:sp>
      <p:sp>
        <p:nvSpPr>
          <p:cNvPr id="21" name="Text 16"/>
          <p:cNvSpPr txBox="1"/>
          <p:nvPr/>
        </p:nvSpPr>
        <p:spPr>
          <a:xfrm>
            <a:off x="548640" y="5669280"/>
            <a:ext cx="11091672" cy="320040"/>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Werte gerundet und beispielhaft (Quellen: ADAC-Ecotest, Vattenfall, Stromspiegel.de) – der tatsächliche Verbrauch hängt vom Gerät bzw. Modell ab.</a:t>
            </a:r>
            <a:endParaRPr lang="en-US" sz="1000" dirty="0"/>
          </a:p>
        </p:txBody>
      </p:sp>
      <p:sp>
        <p:nvSpPr>
          <p:cNvPr id="22" name="Text 17"/>
          <p:cNvSpPr txBox="1"/>
          <p:nvPr/>
        </p:nvSpPr>
        <p:spPr>
          <a:xfrm>
            <a:off x="548640" y="6080760"/>
            <a:ext cx="11091672" cy="329184"/>
          </a:xfrm>
          <a:prstGeom prst="rect">
            <a:avLst/>
          </a:prstGeom>
          <a:noFill/>
          <a:ln/>
        </p:spPr>
        <p:txBody>
          <a:bodyPr wrap="square" lIns="0" tIns="0" rIns="0" bIns="0" rtlCol="0" anchor="ctr"/>
          <a:lstStyle/>
          <a:p>
            <a:pPr marL="0" indent="0">
              <a:buNone/>
            </a:pPr>
            <a:r>
              <a:rPr lang="en-US" sz="1500" b="1" dirty="0">
                <a:solidFill>
                  <a:srgbClr val="1B4F91"/>
                </a:solidFill>
                <a:latin typeface="Calibri" pitchFamily="34" charset="0"/>
                <a:ea typeface="Calibri" pitchFamily="34" charset="-122"/>
                <a:cs typeface="Calibri" pitchFamily="34" charset="-120"/>
              </a:rPr>
              <a:t>Umrechnungsaufgaben</a:t>
            </a:r>
            <a:endParaRPr lang="en-US" sz="1500" dirty="0"/>
          </a:p>
        </p:txBody>
      </p:sp>
      <p:sp>
        <p:nvSpPr>
          <p:cNvPr id="23" name="Text 18"/>
          <p:cNvSpPr txBox="1"/>
          <p:nvPr/>
        </p:nvSpPr>
        <p:spPr>
          <a:xfrm>
            <a:off x="548640" y="6400800"/>
            <a:ext cx="11091672"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a) 5 kWh = ? J     b) 9.000.000 J = ? kWh     c) Für 100 km E-Auto werden ca. 20 kWh benötigt – wie viele Joule sind das?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56032"/>
            <a:ext cx="11091672" cy="292608"/>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Physik 9  ·  1.1 Energie und Energieformen  ·  Arbeitsauftrag M3</a:t>
            </a:r>
            <a:endParaRPr lang="en-US" sz="1100" dirty="0"/>
          </a:p>
        </p:txBody>
      </p:sp>
      <p:sp>
        <p:nvSpPr>
          <p:cNvPr id="3" name="Text 1"/>
          <p:cNvSpPr txBox="1"/>
          <p:nvPr/>
        </p:nvSpPr>
        <p:spPr>
          <a:xfrm>
            <a:off x="548640" y="530352"/>
            <a:ext cx="11091672" cy="502920"/>
          </a:xfrm>
          <a:prstGeom prst="rect">
            <a:avLst/>
          </a:prstGeom>
          <a:noFill/>
          <a:ln/>
        </p:spPr>
        <p:txBody>
          <a:bodyPr wrap="square" lIns="0" tIns="0" rIns="0" bIns="0" rtlCol="0" anchor="ctr"/>
          <a:lstStyle/>
          <a:p>
            <a:pPr marL="0" indent="0">
              <a:buNone/>
            </a:pPr>
            <a:r>
              <a:rPr lang="en-US" sz="2600" b="1" dirty="0">
                <a:solidFill>
                  <a:srgbClr val="1B4F91"/>
                </a:solidFill>
                <a:latin typeface="Calibri" pitchFamily="34" charset="0"/>
                <a:ea typeface="Calibri" pitchFamily="34" charset="-122"/>
                <a:cs typeface="Calibri" pitchFamily="34" charset="-120"/>
              </a:rPr>
              <a:t>Energieflussdiagramme</a:t>
            </a:r>
            <a:endParaRPr lang="en-US" sz="2600" dirty="0"/>
          </a:p>
        </p:txBody>
      </p:sp>
      <p:sp>
        <p:nvSpPr>
          <p:cNvPr id="4" name="Text 2"/>
          <p:cNvSpPr txBox="1"/>
          <p:nvPr/>
        </p:nvSpPr>
        <p:spPr>
          <a:xfrm>
            <a:off x="548640" y="1298448"/>
            <a:ext cx="6400800" cy="640080"/>
          </a:xfrm>
          <a:prstGeom prst="rect">
            <a:avLst/>
          </a:prstGeom>
          <a:noFill/>
          <a:ln/>
        </p:spPr>
        <p:txBody>
          <a:bodyPr wrap="square" lIns="0" tIns="0" rIns="0" bIns="0" rtlCol="0" anchor="t"/>
          <a:lstStyle/>
          <a:p>
            <a:pPr marL="0" indent="0">
              <a:lnSpc>
                <a:spcPts val="1900"/>
              </a:lnSpc>
              <a:buNone/>
            </a:pPr>
            <a:r>
              <a:rPr lang="en-US" sz="1400" dirty="0">
                <a:solidFill>
                  <a:srgbClr val="1A1A1A"/>
                </a:solidFill>
                <a:latin typeface="Calibri" pitchFamily="34" charset="0"/>
                <a:ea typeface="Calibri" pitchFamily="34" charset="-122"/>
                <a:cs typeface="Calibri" pitchFamily="34" charset="-120"/>
              </a:rPr>
              <a:t>Ein Vorgang, bei dem ein Gerät eine Energieform in eine andere umwandelt, lässt sich mit einem Energieflussdiagramm darstellen.</a:t>
            </a:r>
            <a:endParaRPr lang="en-US" sz="1400" dirty="0"/>
          </a:p>
        </p:txBody>
      </p:sp>
      <p:sp>
        <p:nvSpPr>
          <p:cNvPr id="5" name="Shape 3"/>
          <p:cNvSpPr/>
          <p:nvPr/>
        </p:nvSpPr>
        <p:spPr>
          <a:xfrm>
            <a:off x="548640" y="2057400"/>
            <a:ext cx="6400800" cy="960120"/>
          </a:xfrm>
          <a:prstGeom prst="rect">
            <a:avLst/>
          </a:prstGeom>
          <a:solidFill>
            <a:srgbClr val="FFFFFF"/>
          </a:solidFill>
          <a:ln w="15875">
            <a:solidFill>
              <a:srgbClr val="1B4F91"/>
            </a:solidFill>
            <a:prstDash val="solid"/>
          </a:ln>
        </p:spPr>
        <p:txBody>
          <a:bodyPr/>
          <a:lstStyle/>
          <a:p>
            <a:endParaRPr lang="de-DE"/>
          </a:p>
        </p:txBody>
      </p:sp>
      <p:sp>
        <p:nvSpPr>
          <p:cNvPr id="6" name="Text 4"/>
          <p:cNvSpPr txBox="1"/>
          <p:nvPr/>
        </p:nvSpPr>
        <p:spPr>
          <a:xfrm>
            <a:off x="713232" y="2148840"/>
            <a:ext cx="6071616" cy="274320"/>
          </a:xfrm>
          <a:prstGeom prst="rect">
            <a:avLst/>
          </a:prstGeom>
          <a:noFill/>
          <a:ln/>
        </p:spPr>
        <p:txBody>
          <a:bodyPr wrap="square" lIns="0" tIns="0" rIns="0" bIns="0" rtlCol="0" anchor="ctr"/>
          <a:lstStyle/>
          <a:p>
            <a:pPr marL="0" indent="0">
              <a:buNone/>
            </a:pPr>
            <a:r>
              <a:rPr lang="en-US" sz="1250" b="1" dirty="0">
                <a:solidFill>
                  <a:srgbClr val="1B4F91"/>
                </a:solidFill>
                <a:latin typeface="Calibri" pitchFamily="34" charset="0"/>
                <a:ea typeface="Calibri" pitchFamily="34" charset="-122"/>
                <a:cs typeface="Calibri" pitchFamily="34" charset="-120"/>
              </a:rPr>
              <a:t>Beispiel: Verbrennungsmotor</a:t>
            </a:r>
            <a:endParaRPr lang="en-US" sz="1250" dirty="0"/>
          </a:p>
        </p:txBody>
      </p:sp>
      <p:sp>
        <p:nvSpPr>
          <p:cNvPr id="7" name="Text 5"/>
          <p:cNvSpPr txBox="1"/>
          <p:nvPr/>
        </p:nvSpPr>
        <p:spPr>
          <a:xfrm>
            <a:off x="713232" y="2468880"/>
            <a:ext cx="6071616" cy="457200"/>
          </a:xfrm>
          <a:prstGeom prst="rect">
            <a:avLst/>
          </a:prstGeom>
          <a:noFill/>
          <a:ln/>
        </p:spPr>
        <p:txBody>
          <a:bodyPr wrap="square" lIns="0" tIns="0" rIns="0" bIns="0" rtlCol="0" anchor="t"/>
          <a:lstStyle/>
          <a:p>
            <a:pPr marL="0" indent="0">
              <a:buNone/>
            </a:pPr>
            <a:r>
              <a:rPr lang="en-US" sz="1350" b="1" dirty="0">
                <a:solidFill>
                  <a:srgbClr val="1A1A1A"/>
                </a:solidFill>
                <a:latin typeface="Calibri" pitchFamily="34" charset="0"/>
                <a:ea typeface="Calibri" pitchFamily="34" charset="-122"/>
                <a:cs typeface="Calibri" pitchFamily="34" charset="-120"/>
              </a:rPr>
              <a:t>chemische Energie</a:t>
            </a:r>
            <a:r>
              <a:rPr lang="en-US" sz="1350" dirty="0">
                <a:solidFill>
                  <a:srgbClr val="1A1A1A"/>
                </a:solidFill>
                <a:latin typeface="Calibri" pitchFamily="34" charset="0"/>
                <a:ea typeface="Calibri" pitchFamily="34" charset="-122"/>
                <a:cs typeface="Calibri" pitchFamily="34" charset="-120"/>
              </a:rPr>
              <a:t>   →   Verbrennungsmotor   →   </a:t>
            </a:r>
            <a:r>
              <a:rPr lang="en-US" sz="1350" b="1" dirty="0">
                <a:solidFill>
                  <a:srgbClr val="1A1A1A"/>
                </a:solidFill>
                <a:latin typeface="Calibri" pitchFamily="34" charset="0"/>
                <a:ea typeface="Calibri" pitchFamily="34" charset="-122"/>
                <a:cs typeface="Calibri" pitchFamily="34" charset="-120"/>
              </a:rPr>
              <a:t>kinetische / thermische Energie</a:t>
            </a:r>
            <a:endParaRPr lang="en-US" sz="1350" dirty="0"/>
          </a:p>
        </p:txBody>
      </p:sp>
      <p:sp>
        <p:nvSpPr>
          <p:cNvPr id="8" name="Text 6"/>
          <p:cNvSpPr txBox="1"/>
          <p:nvPr/>
        </p:nvSpPr>
        <p:spPr>
          <a:xfrm>
            <a:off x="548640" y="3291840"/>
            <a:ext cx="6400800" cy="329184"/>
          </a:xfrm>
          <a:prstGeom prst="rect">
            <a:avLst/>
          </a:prstGeom>
          <a:noFill/>
          <a:ln/>
        </p:spPr>
        <p:txBody>
          <a:bodyPr wrap="square" lIns="0" tIns="0" rIns="0" bIns="0" rtlCol="0" anchor="ctr"/>
          <a:lstStyle/>
          <a:p>
            <a:pPr marL="0" indent="0">
              <a:buNone/>
            </a:pPr>
            <a:r>
              <a:rPr lang="en-US" sz="1500" b="1" dirty="0">
                <a:solidFill>
                  <a:srgbClr val="1B4F91"/>
                </a:solidFill>
                <a:latin typeface="Calibri" pitchFamily="34" charset="0"/>
                <a:ea typeface="Calibri" pitchFamily="34" charset="-122"/>
                <a:cs typeface="Calibri" pitchFamily="34" charset="-120"/>
              </a:rPr>
              <a:t>Arbeitsauftrag</a:t>
            </a:r>
            <a:endParaRPr lang="en-US" sz="1500" dirty="0"/>
          </a:p>
        </p:txBody>
      </p:sp>
      <p:sp>
        <p:nvSpPr>
          <p:cNvPr id="9" name="Text 7"/>
          <p:cNvSpPr txBox="1"/>
          <p:nvPr/>
        </p:nvSpPr>
        <p:spPr>
          <a:xfrm>
            <a:off x="548640" y="3657600"/>
            <a:ext cx="457200" cy="822960"/>
          </a:xfrm>
          <a:prstGeom prst="rect">
            <a:avLst/>
          </a:prstGeom>
          <a:noFill/>
          <a:ln/>
        </p:spPr>
        <p:txBody>
          <a:bodyPr wrap="square" lIns="0" tIns="0" rIns="0" bIns="0" rtlCol="0" anchor="t"/>
          <a:lstStyle/>
          <a:p>
            <a:pPr marL="0" indent="0">
              <a:buNone/>
            </a:pPr>
            <a:r>
              <a:rPr lang="en-US" sz="1400" b="1" dirty="0">
                <a:solidFill>
                  <a:srgbClr val="1B4F91"/>
                </a:solidFill>
                <a:latin typeface="Calibri" pitchFamily="34" charset="0"/>
                <a:ea typeface="Calibri" pitchFamily="34" charset="-122"/>
                <a:cs typeface="Calibri" pitchFamily="34" charset="-120"/>
              </a:rPr>
              <a:t>a)</a:t>
            </a:r>
            <a:endParaRPr lang="en-US" sz="1400" dirty="0"/>
          </a:p>
        </p:txBody>
      </p:sp>
      <p:sp>
        <p:nvSpPr>
          <p:cNvPr id="10" name="Text 8"/>
          <p:cNvSpPr txBox="1"/>
          <p:nvPr/>
        </p:nvSpPr>
        <p:spPr>
          <a:xfrm>
            <a:off x="1051560" y="3657600"/>
            <a:ext cx="5897880" cy="914400"/>
          </a:xfrm>
          <a:prstGeom prst="rect">
            <a:avLst/>
          </a:prstGeom>
          <a:noFill/>
          <a:ln/>
        </p:spPr>
        <p:txBody>
          <a:bodyPr wrap="square" lIns="0" tIns="0" rIns="0" bIns="0" rtlCol="0" anchor="t"/>
          <a:lstStyle/>
          <a:p>
            <a:pPr marL="0" indent="0">
              <a:lnSpc>
                <a:spcPts val="1800"/>
              </a:lnSpc>
              <a:buNone/>
            </a:pPr>
            <a:r>
              <a:rPr lang="en-US" sz="1350" dirty="0">
                <a:solidFill>
                  <a:srgbClr val="1A1A1A"/>
                </a:solidFill>
                <a:latin typeface="Calibri" pitchFamily="34" charset="0"/>
                <a:ea typeface="Calibri" pitchFamily="34" charset="-122"/>
                <a:cs typeface="Calibri" pitchFamily="34" charset="-120"/>
              </a:rPr>
              <a:t>Erläutere das Energieflussdiagramm des Verbrennungsmotors: Worin steckt die chemische Energie? Woran erkennt man die kinetische Energie? Wie nimmt man die thermische Energie wahr?</a:t>
            </a:r>
            <a:endParaRPr lang="en-US" sz="1350" dirty="0"/>
          </a:p>
        </p:txBody>
      </p:sp>
      <p:sp>
        <p:nvSpPr>
          <p:cNvPr id="11" name="Text 9"/>
          <p:cNvSpPr txBox="1"/>
          <p:nvPr/>
        </p:nvSpPr>
        <p:spPr>
          <a:xfrm>
            <a:off x="548640" y="4754880"/>
            <a:ext cx="457200" cy="822960"/>
          </a:xfrm>
          <a:prstGeom prst="rect">
            <a:avLst/>
          </a:prstGeom>
          <a:noFill/>
          <a:ln/>
        </p:spPr>
        <p:txBody>
          <a:bodyPr wrap="square" lIns="0" tIns="0" rIns="0" bIns="0" rtlCol="0" anchor="t"/>
          <a:lstStyle/>
          <a:p>
            <a:pPr marL="0" indent="0">
              <a:buNone/>
            </a:pPr>
            <a:r>
              <a:rPr lang="en-US" sz="1400" b="1" dirty="0">
                <a:solidFill>
                  <a:srgbClr val="1B4F91"/>
                </a:solidFill>
                <a:latin typeface="Calibri" pitchFamily="34" charset="0"/>
                <a:ea typeface="Calibri" pitchFamily="34" charset="-122"/>
                <a:cs typeface="Calibri" pitchFamily="34" charset="-120"/>
              </a:rPr>
              <a:t>b)</a:t>
            </a:r>
            <a:endParaRPr lang="en-US" sz="1400" dirty="0"/>
          </a:p>
        </p:txBody>
      </p:sp>
      <p:sp>
        <p:nvSpPr>
          <p:cNvPr id="12" name="Text 10"/>
          <p:cNvSpPr txBox="1"/>
          <p:nvPr/>
        </p:nvSpPr>
        <p:spPr>
          <a:xfrm>
            <a:off x="1051560" y="4754880"/>
            <a:ext cx="5897880" cy="914400"/>
          </a:xfrm>
          <a:prstGeom prst="rect">
            <a:avLst/>
          </a:prstGeom>
          <a:noFill/>
          <a:ln/>
        </p:spPr>
        <p:txBody>
          <a:bodyPr wrap="square" lIns="0" tIns="0" rIns="0" bIns="0" rtlCol="0" anchor="t"/>
          <a:lstStyle/>
          <a:p>
            <a:pPr marL="0" indent="0">
              <a:lnSpc>
                <a:spcPts val="1800"/>
              </a:lnSpc>
              <a:buNone/>
            </a:pPr>
            <a:r>
              <a:rPr lang="en-US" sz="1350" dirty="0">
                <a:solidFill>
                  <a:srgbClr val="1A1A1A"/>
                </a:solidFill>
                <a:latin typeface="Calibri" pitchFamily="34" charset="0"/>
                <a:ea typeface="Calibri" pitchFamily="34" charset="-122"/>
                <a:cs typeface="Calibri" pitchFamily="34" charset="-120"/>
              </a:rPr>
              <a:t>Zeichne Energieflussdiagramme für: eine Solarzelle, die den Akku eines Handys auflädt, und für Klaus, der eine Übung am Reck macht.</a:t>
            </a:r>
            <a:endParaRPr lang="en-US" sz="1350" dirty="0"/>
          </a:p>
        </p:txBody>
      </p:sp>
      <p:sp>
        <p:nvSpPr>
          <p:cNvPr id="13" name="Text 11"/>
          <p:cNvSpPr txBox="1"/>
          <p:nvPr/>
        </p:nvSpPr>
        <p:spPr>
          <a:xfrm>
            <a:off x="548640" y="5989320"/>
            <a:ext cx="6400800" cy="365760"/>
          </a:xfrm>
          <a:prstGeom prst="rect">
            <a:avLst/>
          </a:prstGeom>
          <a:noFill/>
          <a:ln/>
        </p:spPr>
        <p:txBody>
          <a:bodyPr wrap="square" lIns="0" tIns="0" rIns="0" bIns="0" rtlCol="0" anchor="ctr"/>
          <a:lstStyle/>
          <a:p>
            <a:pPr marL="0" indent="0">
              <a:buNone/>
            </a:pPr>
            <a:r>
              <a:rPr lang="en-US" sz="1150" dirty="0">
                <a:solidFill>
                  <a:srgbClr val="6B6B6B"/>
                </a:solidFill>
                <a:latin typeface="Calibri" pitchFamily="34" charset="0"/>
                <a:ea typeface="Calibri" pitchFamily="34" charset="-122"/>
                <a:cs typeface="Calibri" pitchFamily="34" charset="-120"/>
              </a:rPr>
              <a:t>Video: </a:t>
            </a:r>
            <a:r>
              <a:rPr lang="en-US" sz="1150" u="sng" dirty="0">
                <a:solidFill>
                  <a:srgbClr val="1B4F91"/>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Alpha Centauri – Was ist Energie?</a:t>
            </a:r>
            <a:r>
              <a:rPr lang="en-US" sz="1150" dirty="0">
                <a:solidFill>
                  <a:srgbClr val="6B6B6B"/>
                </a:solidFill>
                <a:latin typeface="Calibri" pitchFamily="34" charset="0"/>
                <a:ea typeface="Calibri" pitchFamily="34" charset="-122"/>
                <a:cs typeface="Calibri" pitchFamily="34" charset="-120"/>
              </a:rPr>
              <a:t>     Video: </a:t>
            </a:r>
            <a:r>
              <a:rPr lang="en-US" sz="1150" u="sng" dirty="0">
                <a:solidFill>
                  <a:srgbClr val="1B4F91"/>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Feynman-Analogie</a:t>
            </a:r>
            <a:endParaRPr lang="en-US" sz="1150" dirty="0"/>
          </a:p>
        </p:txBody>
      </p:sp>
      <p:sp>
        <p:nvSpPr>
          <p:cNvPr id="14" name="Text 12"/>
          <p:cNvSpPr txBox="1"/>
          <p:nvPr/>
        </p:nvSpPr>
        <p:spPr>
          <a:xfrm>
            <a:off x="7315200" y="1298448"/>
            <a:ext cx="4325112" cy="329184"/>
          </a:xfrm>
          <a:prstGeom prst="rect">
            <a:avLst/>
          </a:prstGeom>
          <a:noFill/>
          <a:ln/>
        </p:spPr>
        <p:txBody>
          <a:bodyPr wrap="square" lIns="0" tIns="0" rIns="0" bIns="0" rtlCol="0" anchor="ctr"/>
          <a:lstStyle/>
          <a:p>
            <a:pPr marL="0" indent="0">
              <a:buNone/>
            </a:pPr>
            <a:r>
              <a:rPr lang="en-US" sz="1500" b="1" dirty="0">
                <a:solidFill>
                  <a:srgbClr val="1B4F91"/>
                </a:solidFill>
                <a:latin typeface="Calibri" pitchFamily="34" charset="0"/>
                <a:ea typeface="Calibri" pitchFamily="34" charset="-122"/>
                <a:cs typeface="Calibri" pitchFamily="34" charset="-120"/>
              </a:rPr>
              <a:t>Einstieg</a:t>
            </a:r>
            <a:endParaRPr lang="en-US" sz="1500" dirty="0"/>
          </a:p>
        </p:txBody>
      </p:sp>
      <p:pic>
        <p:nvPicPr>
          <p:cNvPr id="15" name="Image 0" descr="einstieg_energieflussdiagramm_gluehlampe.png"/>
          <p:cNvPicPr>
            <a:picLocks noChangeAspect="1"/>
          </p:cNvPicPr>
          <p:nvPr/>
        </p:nvPicPr>
        <p:blipFill>
          <a:blip r:embed="rId5"/>
          <a:stretch>
            <a:fillRect/>
          </a:stretch>
        </p:blipFill>
        <p:spPr>
          <a:xfrm>
            <a:off x="7927203" y="1645920"/>
            <a:ext cx="3101105" cy="1965960"/>
          </a:xfrm>
          <a:prstGeom prst="rect">
            <a:avLst/>
          </a:prstGeom>
        </p:spPr>
      </p:pic>
      <p:sp>
        <p:nvSpPr>
          <p:cNvPr id="16" name="Text 13"/>
          <p:cNvSpPr txBox="1"/>
          <p:nvPr/>
        </p:nvSpPr>
        <p:spPr>
          <a:xfrm>
            <a:off x="7315200" y="3685032"/>
            <a:ext cx="4325112" cy="502920"/>
          </a:xfrm>
          <a:prstGeom prst="rect">
            <a:avLst/>
          </a:prstGeom>
          <a:noFill/>
          <a:ln/>
        </p:spPr>
        <p:txBody>
          <a:bodyPr wrap="square" lIns="0" tIns="0" rIns="0" bIns="0" rtlCol="0" anchor="t"/>
          <a:lstStyle/>
          <a:p>
            <a:pPr marL="0" indent="0">
              <a:buNone/>
            </a:pPr>
            <a:r>
              <a:rPr lang="en-US" sz="1050" i="1" dirty="0">
                <a:solidFill>
                  <a:srgbClr val="6B6B6B"/>
                </a:solidFill>
                <a:latin typeface="Calibri" pitchFamily="34" charset="0"/>
                <a:ea typeface="Calibri" pitchFamily="34" charset="-122"/>
                <a:cs typeface="Calibri" pitchFamily="34" charset="-120"/>
              </a:rPr>
              <a:t>Energieflussdiagramm einer Glühlampe (Balkenbreite = Mengenverhältnis der Energieformen).</a:t>
            </a:r>
            <a:endParaRPr lang="en-US" sz="1050" dirty="0"/>
          </a:p>
        </p:txBody>
      </p:sp>
      <p:sp>
        <p:nvSpPr>
          <p:cNvPr id="17" name="Shape 14"/>
          <p:cNvSpPr/>
          <p:nvPr/>
        </p:nvSpPr>
        <p:spPr>
          <a:xfrm>
            <a:off x="7315200" y="4343400"/>
            <a:ext cx="4325112" cy="1417320"/>
          </a:xfrm>
          <a:prstGeom prst="rect">
            <a:avLst/>
          </a:prstGeom>
          <a:solidFill>
            <a:srgbClr val="FFFFFF"/>
          </a:solidFill>
          <a:ln w="15875">
            <a:solidFill>
              <a:srgbClr val="2E7D32"/>
            </a:solidFill>
            <a:prstDash val="solid"/>
          </a:ln>
        </p:spPr>
        <p:txBody>
          <a:bodyPr/>
          <a:lstStyle/>
          <a:p>
            <a:endParaRPr lang="de-DE"/>
          </a:p>
        </p:txBody>
      </p:sp>
      <p:sp>
        <p:nvSpPr>
          <p:cNvPr id="18" name="Text 15"/>
          <p:cNvSpPr txBox="1"/>
          <p:nvPr/>
        </p:nvSpPr>
        <p:spPr>
          <a:xfrm>
            <a:off x="7479792" y="4434840"/>
            <a:ext cx="3995928" cy="274320"/>
          </a:xfrm>
          <a:prstGeom prst="rect">
            <a:avLst/>
          </a:prstGeom>
          <a:noFill/>
          <a:ln/>
        </p:spPr>
        <p:txBody>
          <a:bodyPr wrap="square" lIns="0" tIns="0" rIns="0" bIns="0"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Tipp</a:t>
            </a:r>
            <a:endParaRPr lang="en-US" sz="1250" dirty="0"/>
          </a:p>
        </p:txBody>
      </p:sp>
      <p:sp>
        <p:nvSpPr>
          <p:cNvPr id="19" name="Text 16"/>
          <p:cNvSpPr txBox="1"/>
          <p:nvPr/>
        </p:nvSpPr>
        <p:spPr>
          <a:xfrm>
            <a:off x="7479792" y="4745736"/>
            <a:ext cx="3995928" cy="914400"/>
          </a:xfrm>
          <a:prstGeom prst="rect">
            <a:avLst/>
          </a:prstGeom>
          <a:noFill/>
          <a:ln/>
        </p:spPr>
        <p:txBody>
          <a:bodyPr wrap="square" lIns="0" tIns="0" rIns="0" bIns="0" rtlCol="0" anchor="t"/>
          <a:lstStyle/>
          <a:p>
            <a:pPr marL="0" indent="0">
              <a:lnSpc>
                <a:spcPts val="1700"/>
              </a:lnSpc>
              <a:buNone/>
            </a:pPr>
            <a:r>
              <a:rPr lang="en-US" sz="1300" dirty="0">
                <a:solidFill>
                  <a:srgbClr val="1A1A1A"/>
                </a:solidFill>
                <a:latin typeface="Calibri" pitchFamily="34" charset="0"/>
                <a:ea typeface="Calibri" pitchFamily="34" charset="-122"/>
                <a:cs typeface="Calibri" pitchFamily="34" charset="-120"/>
              </a:rPr>
              <a:t>Trage zuerst die Energieform vor dem Wandler ein, dann den Wandler selbst, dann die Energieformen danach.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557</Words>
  <Application>Microsoft Office PowerPoint</Application>
  <PresentationFormat>Breitbild</PresentationFormat>
  <Paragraphs>63</Paragraphs>
  <Slides>4</Slides>
  <Notes>4</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4</vt:i4>
      </vt:variant>
    </vt:vector>
  </HeadingPairs>
  <TitlesOfParts>
    <vt:vector size="7" baseType="lpstr">
      <vt:lpstr>Arial</vt:lpstr>
      <vt:lpstr>Calibri</vt:lpstr>
      <vt:lpstr>Office Theme</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Thomas Waitzhofer</cp:lastModifiedBy>
  <cp:revision>2</cp:revision>
  <dcterms:created xsi:type="dcterms:W3CDTF">2026-09-15T12:52:31Z</dcterms:created>
  <dcterms:modified xsi:type="dcterms:W3CDTF">2026-09-16T09:48:55Z</dcterms:modified>
</cp:coreProperties>
</file>